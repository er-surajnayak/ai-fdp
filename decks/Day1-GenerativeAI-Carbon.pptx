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Generative AI · Faculty Development Program</a:t>
            </a:r>
            <a:endParaRPr lang="en-US" sz="85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C6C6C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GENERATIVE AI · FACULTY DEVELOPMENT PROGRAM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4F4F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From Deep Learning to</a:t>
            </a:r>
            <a:endParaRPr lang="en-US" sz="40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000" b="1" dirty="0">
                <a:solidFill>
                  <a:srgbClr val="F4F4F4"/>
                </a:solidFill>
                <a:latin typeface="IBM Plex Serif" pitchFamily="34" charset="0"/>
                <a:ea typeface="IBM Plex Serif" pitchFamily="34" charset="-122"/>
                <a:cs typeface="IBM Plex Serif" pitchFamily="34" charset="-120"/>
              </a:rPr>
              <a:t>Large Language Models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Day 1</a:t>
            </a:r>
            <a:pPr indent="0" marL="0">
              <a:buNone/>
            </a:pPr>
            <a:r>
              <a:rPr lang="en-US" sz="16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  —   Foundations of Generative AI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55280" y="502920"/>
            <a:ext cx="201168" cy="201168"/>
          </a:xfrm>
          <a:prstGeom prst="ellipse">
            <a:avLst/>
          </a:prstGeom>
          <a:solidFill>
            <a:srgbClr val="4589FF"/>
          </a:solidFill>
          <a:ln/>
        </p:spPr>
      </p:sp>
      <p:sp>
        <p:nvSpPr>
          <p:cNvPr id="8" name="Shape 6"/>
          <p:cNvSpPr/>
          <p:nvPr/>
        </p:nvSpPr>
        <p:spPr>
          <a:xfrm>
            <a:off x="8275320" y="502920"/>
            <a:ext cx="201168" cy="201168"/>
          </a:xfrm>
          <a:prstGeom prst="ellipse">
            <a:avLst/>
          </a:prstGeom>
          <a:solidFill>
            <a:srgbClr val="08BDBA"/>
          </a:solidFill>
          <a:ln/>
        </p:spPr>
      </p:sp>
      <p:sp>
        <p:nvSpPr>
          <p:cNvPr id="9" name="Shape 7"/>
          <p:cNvSpPr/>
          <p:nvPr/>
        </p:nvSpPr>
        <p:spPr>
          <a:xfrm>
            <a:off x="7955280" y="822960"/>
            <a:ext cx="201168" cy="201168"/>
          </a:xfrm>
          <a:prstGeom prst="ellipse">
            <a:avLst/>
          </a:prstGeom>
          <a:solidFill>
            <a:srgbClr val="8A3FFC"/>
          </a:solidFill>
          <a:ln/>
        </p:spPr>
      </p:sp>
      <p:sp>
        <p:nvSpPr>
          <p:cNvPr id="10" name="Shape 8"/>
          <p:cNvSpPr/>
          <p:nvPr/>
        </p:nvSpPr>
        <p:spPr>
          <a:xfrm>
            <a:off x="8275320" y="822960"/>
            <a:ext cx="201168" cy="201168"/>
          </a:xfrm>
          <a:prstGeom prst="ellipse">
            <a:avLst/>
          </a:prstGeom>
          <a:solidFill>
            <a:srgbClr val="EE539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1 · AGENDA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Eight modules, one thread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Generative AI · Faculty Development Program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85216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1   ·   02 / 11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458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207008" y="17282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Evolution of 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0208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⊃ ML ⊃ DL ⊃ GenAI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240487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192E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207008" y="24414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 Transformers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27340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Why recurrence hit a wall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311810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8A3FF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207008" y="31546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Attention Mechanism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34472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Query · Key · Value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48640" y="383133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09D9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1207008" y="386791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Tokenization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07008" y="41605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the model reads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00600" y="1691640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E53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5458968" y="1728216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Embeddings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458968" y="2020824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Meaning as geometry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00600" y="2404872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4A1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5458968" y="24414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How LLMs Work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58968" y="2734056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Next-token prediction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00600" y="3118104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832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5458968" y="3154680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Foundation Models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458968" y="3447288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Choosing by constraint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3831336"/>
            <a:ext cx="640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5458968" y="386791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58968" y="416052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C.R.A.F.T. &amp; responsible use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4589FF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 · THE EVOLUTION OF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Each field nests inside the last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Generative AI · Faculty Development Program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85216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1   ·   03 / 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576" cy="420624"/>
          </a:xfrm>
          <a:prstGeom prst="rect">
            <a:avLst/>
          </a:prstGeom>
          <a:solidFill>
            <a:srgbClr val="4589FF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6420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is the broad goal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1956816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Any machine that mimics intelligent behaviour — rules included.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36576" cy="420624"/>
          </a:xfrm>
          <a:prstGeom prst="rect">
            <a:avLst/>
          </a:prstGeom>
          <a:solidFill>
            <a:srgbClr val="4589FF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43230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 learning inverts it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" y="2724912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Give data + answers; the model infers the rules itself.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27832"/>
            <a:ext cx="36576" cy="420624"/>
          </a:xfrm>
          <a:prstGeom prst="rect">
            <a:avLst/>
          </a:prstGeom>
          <a:solidFill>
            <a:srgbClr val="4589FF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20040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learning learns features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" y="349300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Neural nets find their own features from raw pixels, audio, text.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6576" cy="420624"/>
          </a:xfrm>
          <a:prstGeom prst="rect">
            <a:avLst/>
          </a:prstGeom>
          <a:solidFill>
            <a:srgbClr val="4589FF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968496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Generative AI creates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" y="4261104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specialised corner of deep learning — not a rival to it.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3840480" cy="310896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83480" y="1719072"/>
            <a:ext cx="3383280" cy="2596896"/>
          </a:xfrm>
          <a:prstGeom prst="rect">
            <a:avLst/>
          </a:prstGeom>
          <a:ln w="15875">
            <a:solidFill>
              <a:srgbClr val="4589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17647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589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Artificial Intelligence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67528" y="2048256"/>
            <a:ext cx="2615184" cy="1938528"/>
          </a:xfrm>
          <a:prstGeom prst="rect">
            <a:avLst/>
          </a:prstGeom>
          <a:ln w="15875">
            <a:solidFill>
              <a:srgbClr val="08BDB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7528" y="2093976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8BDB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Machine Learning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51576" y="2377440"/>
            <a:ext cx="1847088" cy="1280160"/>
          </a:xfrm>
          <a:prstGeom prst="rect">
            <a:avLst/>
          </a:prstGeom>
          <a:ln w="15875">
            <a:solidFill>
              <a:srgbClr val="8A3F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51576" y="2423160"/>
            <a:ext cx="18470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A3FFC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Learning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35624" y="2706624"/>
            <a:ext cx="1078992" cy="621792"/>
          </a:xfrm>
          <a:prstGeom prst="rect">
            <a:avLst/>
          </a:prstGeom>
          <a:ln w="15875">
            <a:solidFill>
              <a:srgbClr val="EE53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35624" y="2752344"/>
            <a:ext cx="107899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E539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Generative AI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1192E8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· FROM DEEP LEARNING TO TRANSFORMERS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Recurrence hit a wall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Generative AI · Faculty Development Program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85216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1   ·   04 / 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576" cy="420624"/>
          </a:xfrm>
          <a:prstGeom prst="rect">
            <a:avLst/>
          </a:prstGeom>
          <a:solidFill>
            <a:srgbClr val="1192E8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6420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RNNs read one step at a time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1956816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Meaning is passed hand-to-hand, so early words fade by the end.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36576" cy="420624"/>
          </a:xfrm>
          <a:prstGeom prst="rect">
            <a:avLst/>
          </a:prstGeom>
          <a:solidFill>
            <a:srgbClr val="1192E8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43230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Long-range dependencies break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" y="2724912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Distance is the enemy of a fading memory.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27832"/>
            <a:ext cx="36576" cy="420624"/>
          </a:xfrm>
          <a:prstGeom prst="rect">
            <a:avLst/>
          </a:prstGeom>
          <a:solidFill>
            <a:srgbClr val="1192E8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20040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“Attention Is All You Need”, 2017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" y="349300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 recurrence; link every word to every word at once.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6576" cy="420624"/>
          </a:xfrm>
          <a:prstGeom prst="rect">
            <a:avLst/>
          </a:prstGeom>
          <a:solidFill>
            <a:srgbClr val="1192E8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968496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Parallel + no fading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" y="4261104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whole sequence processes together, scaling on GPUs.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3840480" cy="310896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62763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RNN — one step at a time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56632" y="1965960"/>
            <a:ext cx="53035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56632" y="196596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86984" y="2121408"/>
            <a:ext cx="146304" cy="0"/>
          </a:xfrm>
          <a:prstGeom prst="line">
            <a:avLst/>
          </a:prstGeom>
          <a:noFill/>
          <a:ln w="19050">
            <a:solidFill>
              <a:srgbClr val="FF832B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733288" y="1965960"/>
            <a:ext cx="53035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33288" y="196596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263640" y="2121408"/>
            <a:ext cx="146304" cy="0"/>
          </a:xfrm>
          <a:prstGeom prst="line">
            <a:avLst/>
          </a:prstGeom>
          <a:noFill/>
          <a:ln w="19050">
            <a:solidFill>
              <a:srgbClr val="FF832B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409944" y="1965960"/>
            <a:ext cx="53035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9944" y="196596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940296" y="2121408"/>
            <a:ext cx="146304" cy="0"/>
          </a:xfrm>
          <a:prstGeom prst="line">
            <a:avLst/>
          </a:prstGeom>
          <a:noFill/>
          <a:ln w="19050">
            <a:solidFill>
              <a:srgbClr val="FF832B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086600" y="1965960"/>
            <a:ext cx="53035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196596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616952" y="2121408"/>
            <a:ext cx="146304" cy="0"/>
          </a:xfrm>
          <a:prstGeom prst="line">
            <a:avLst/>
          </a:prstGeom>
          <a:noFill/>
          <a:ln w="19050">
            <a:solidFill>
              <a:srgbClr val="FF832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763256" y="1965960"/>
            <a:ext cx="53035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63256" y="196596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937760" y="288036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Self-attention — all at once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321808" y="3749040"/>
            <a:ext cx="676656" cy="-219456"/>
          </a:xfrm>
          <a:prstGeom prst="line">
            <a:avLst/>
          </a:prstGeom>
          <a:noFill/>
          <a:ln w="9525">
            <a:solidFill>
              <a:srgbClr val="1192E8">
                <a:alpha val="6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21808" y="3749040"/>
            <a:ext cx="1353312" cy="-329184"/>
          </a:xfrm>
          <a:prstGeom prst="line">
            <a:avLst/>
          </a:prstGeom>
          <a:noFill/>
          <a:ln w="9525">
            <a:solidFill>
              <a:srgbClr val="1192E8">
                <a:alpha val="6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321808" y="3749040"/>
            <a:ext cx="2029968" cy="-438912"/>
          </a:xfrm>
          <a:prstGeom prst="line">
            <a:avLst/>
          </a:prstGeom>
          <a:noFill/>
          <a:ln w="9525">
            <a:solidFill>
              <a:srgbClr val="1192E8">
                <a:alpha val="6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321808" y="3749040"/>
            <a:ext cx="2706624" cy="-548640"/>
          </a:xfrm>
          <a:prstGeom prst="line">
            <a:avLst/>
          </a:prstGeom>
          <a:noFill/>
          <a:ln w="9525">
            <a:solidFill>
              <a:srgbClr val="1192E8">
                <a:alpha val="6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998464" y="3749040"/>
            <a:ext cx="676656" cy="-219456"/>
          </a:xfrm>
          <a:prstGeom prst="line">
            <a:avLst/>
          </a:prstGeom>
          <a:noFill/>
          <a:ln w="9525">
            <a:solidFill>
              <a:srgbClr val="1192E8">
                <a:alpha val="6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98464" y="3749040"/>
            <a:ext cx="1353312" cy="-329184"/>
          </a:xfrm>
          <a:prstGeom prst="line">
            <a:avLst/>
          </a:prstGeom>
          <a:noFill/>
          <a:ln w="9525">
            <a:solidFill>
              <a:srgbClr val="1192E8">
                <a:alpha val="6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998464" y="3749040"/>
            <a:ext cx="2029968" cy="-438912"/>
          </a:xfrm>
          <a:prstGeom prst="line">
            <a:avLst/>
          </a:prstGeom>
          <a:noFill/>
          <a:ln w="9525">
            <a:solidFill>
              <a:srgbClr val="1192E8">
                <a:alpha val="6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675120" y="3749040"/>
            <a:ext cx="676656" cy="-219456"/>
          </a:xfrm>
          <a:prstGeom prst="line">
            <a:avLst/>
          </a:prstGeom>
          <a:noFill/>
          <a:ln w="9525">
            <a:solidFill>
              <a:srgbClr val="1192E8">
                <a:alpha val="6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75120" y="3749040"/>
            <a:ext cx="1353312" cy="-329184"/>
          </a:xfrm>
          <a:prstGeom prst="line">
            <a:avLst/>
          </a:prstGeom>
          <a:noFill/>
          <a:ln w="9525">
            <a:solidFill>
              <a:srgbClr val="1192E8">
                <a:alpha val="6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351776" y="3749040"/>
            <a:ext cx="676656" cy="-219456"/>
          </a:xfrm>
          <a:prstGeom prst="line">
            <a:avLst/>
          </a:prstGeom>
          <a:noFill/>
          <a:ln w="9525">
            <a:solidFill>
              <a:srgbClr val="1192E8">
                <a:alpha val="6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056632" y="3749040"/>
            <a:ext cx="53035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192E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56632" y="374904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733288" y="3749040"/>
            <a:ext cx="53035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192E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733288" y="374904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cat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09944" y="3749040"/>
            <a:ext cx="53035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192E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409944" y="374904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sat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086600" y="3749040"/>
            <a:ext cx="53035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192E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086600" y="374904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7763256" y="3749040"/>
            <a:ext cx="530352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1192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63256" y="3749040"/>
            <a:ext cx="530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mat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8A3FFC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· THE ATTENTION MECHANISM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search every word runs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Generative AI · Faculty Development Program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85216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1   ·   05 / 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576" cy="420624"/>
          </a:xfrm>
          <a:prstGeom prst="rect">
            <a:avLst/>
          </a:prstGeom>
          <a:solidFill>
            <a:srgbClr val="8A3FFC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6420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Self-attention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1956816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token weighs every other token in the same sequence.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36576" cy="420624"/>
          </a:xfrm>
          <a:prstGeom prst="rect">
            <a:avLst/>
          </a:prstGeom>
          <a:solidFill>
            <a:srgbClr val="8A3FFC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43230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Relevance, not proximity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" y="2724912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“It” links to “animal” by meaning, not by distance.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27832"/>
            <a:ext cx="36576" cy="420624"/>
          </a:xfrm>
          <a:prstGeom prst="rect">
            <a:avLst/>
          </a:prstGeom>
          <a:solidFill>
            <a:srgbClr val="8A3FFC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20040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Multi-head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" y="349300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Many relationship types — grammar, coreference — captured in parallel.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6576" cy="420624"/>
          </a:xfrm>
          <a:prstGeom prst="rect">
            <a:avLst/>
          </a:prstGeom>
          <a:solidFill>
            <a:srgbClr val="8A3FFC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968496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engine of every LLM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" y="4261104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single idea is what makes Transformers work.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3840480" cy="310896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6048" y="1664208"/>
            <a:ext cx="3438144" cy="841248"/>
          </a:xfrm>
          <a:prstGeom prst="rect">
            <a:avLst/>
          </a:prstGeom>
          <a:solidFill>
            <a:srgbClr val="393939"/>
          </a:solidFill>
          <a:ln/>
        </p:spPr>
      </p:sp>
      <p:sp>
        <p:nvSpPr>
          <p:cNvPr id="21" name="Shape 19"/>
          <p:cNvSpPr/>
          <p:nvPr/>
        </p:nvSpPr>
        <p:spPr>
          <a:xfrm>
            <a:off x="4956048" y="1664208"/>
            <a:ext cx="54864" cy="841248"/>
          </a:xfrm>
          <a:prstGeom prst="rect">
            <a:avLst/>
          </a:prstGeom>
          <a:solidFill>
            <a:srgbClr val="4589FF"/>
          </a:solidFill>
          <a:ln/>
        </p:spPr>
      </p:sp>
      <p:sp>
        <p:nvSpPr>
          <p:cNvPr id="22" name="Text 20"/>
          <p:cNvSpPr/>
          <p:nvPr/>
        </p:nvSpPr>
        <p:spPr>
          <a:xfrm>
            <a:off x="5084064" y="1664208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58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760720" y="1792224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Query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760720" y="206654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question a word asks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956048" y="2651760"/>
            <a:ext cx="3438144" cy="841248"/>
          </a:xfrm>
          <a:prstGeom prst="rect">
            <a:avLst/>
          </a:prstGeom>
          <a:solidFill>
            <a:srgbClr val="393939"/>
          </a:solidFill>
          <a:ln/>
        </p:spPr>
      </p:sp>
      <p:sp>
        <p:nvSpPr>
          <p:cNvPr id="26" name="Shape 24"/>
          <p:cNvSpPr/>
          <p:nvPr/>
        </p:nvSpPr>
        <p:spPr>
          <a:xfrm>
            <a:off x="4956048" y="2651760"/>
            <a:ext cx="54864" cy="841248"/>
          </a:xfrm>
          <a:prstGeom prst="rect">
            <a:avLst/>
          </a:prstGeom>
          <a:solidFill>
            <a:srgbClr val="08BDBA"/>
          </a:solidFill>
          <a:ln/>
        </p:spPr>
      </p:sp>
      <p:sp>
        <p:nvSpPr>
          <p:cNvPr id="27" name="Text 25"/>
          <p:cNvSpPr/>
          <p:nvPr/>
        </p:nvSpPr>
        <p:spPr>
          <a:xfrm>
            <a:off x="5084064" y="2651760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8BDBA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5760720" y="2779776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760720" y="305409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label advertising what a word is about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956048" y="3639312"/>
            <a:ext cx="3438144" cy="841248"/>
          </a:xfrm>
          <a:prstGeom prst="rect">
            <a:avLst/>
          </a:prstGeom>
          <a:solidFill>
            <a:srgbClr val="393939"/>
          </a:solidFill>
          <a:ln/>
        </p:spPr>
      </p:sp>
      <p:sp>
        <p:nvSpPr>
          <p:cNvPr id="31" name="Shape 29"/>
          <p:cNvSpPr/>
          <p:nvPr/>
        </p:nvSpPr>
        <p:spPr>
          <a:xfrm>
            <a:off x="4956048" y="3639312"/>
            <a:ext cx="54864" cy="841248"/>
          </a:xfrm>
          <a:prstGeom prst="rect">
            <a:avLst/>
          </a:prstGeom>
          <a:solidFill>
            <a:srgbClr val="EE5396"/>
          </a:solidFill>
          <a:ln/>
        </p:spPr>
      </p:sp>
      <p:sp>
        <p:nvSpPr>
          <p:cNvPr id="32" name="Text 30"/>
          <p:cNvSpPr/>
          <p:nvPr/>
        </p:nvSpPr>
        <p:spPr>
          <a:xfrm>
            <a:off x="5084064" y="3639312"/>
            <a:ext cx="640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E539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V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5760720" y="3767328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Value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760720" y="4041648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content blended in by relevance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09D9A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· TOKENIZATION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 the model actually reads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Generative AI · Faculty Development Program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85216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1   ·   06 / 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576" cy="420624"/>
          </a:xfrm>
          <a:prstGeom prst="rect">
            <a:avLst/>
          </a:prstGeom>
          <a:solidFill>
            <a:srgbClr val="009D9A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6420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Tokens ≠ words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1956816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~100 tokens ≈ 75 English words; code and other scripts skew high.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36576" cy="420624"/>
          </a:xfrm>
          <a:prstGeom prst="rect">
            <a:avLst/>
          </a:prstGeom>
          <a:solidFill>
            <a:srgbClr val="009D9A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43230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shared budget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" y="2724912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prompt + input + history + reply all live in the context window.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27832"/>
            <a:ext cx="36576" cy="420624"/>
          </a:xfrm>
          <a:prstGeom prst="rect">
            <a:avLst/>
          </a:prstGeom>
          <a:solidFill>
            <a:srgbClr val="009D9A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20040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Eviction is silent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" y="349300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Past the window, the oldest turns drop — the model “forgets”.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6576" cy="420624"/>
          </a:xfrm>
          <a:prstGeom prst="rect">
            <a:avLst/>
          </a:prstGeom>
          <a:solidFill>
            <a:srgbClr val="009D9A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968496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Tokens are a cost line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" y="4261104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token in and out is billed — length is a budget decision.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3840480" cy="310896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645920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“Tokenization”  →  4 tokens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956048" y="1965960"/>
            <a:ext cx="909828" cy="365760"/>
          </a:xfrm>
          <a:prstGeom prst="rect">
            <a:avLst/>
          </a:prstGeom>
          <a:solidFill>
            <a:srgbClr val="B3E5E3"/>
          </a:solidFill>
          <a:ln w="12700">
            <a:solidFill>
              <a:srgbClr val="009D9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965960"/>
            <a:ext cx="909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41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Token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75604" y="1965960"/>
            <a:ext cx="539496" cy="365760"/>
          </a:xfrm>
          <a:prstGeom prst="rect">
            <a:avLst/>
          </a:prstGeom>
          <a:solidFill>
            <a:srgbClr val="D9F2F1"/>
          </a:solidFill>
          <a:ln w="12700">
            <a:solidFill>
              <a:srgbClr val="009D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75604" y="1965960"/>
            <a:ext cx="5394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41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iz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624828" y="1965960"/>
            <a:ext cx="909828" cy="365760"/>
          </a:xfrm>
          <a:prstGeom prst="rect">
            <a:avLst/>
          </a:prstGeom>
          <a:solidFill>
            <a:srgbClr val="B3E5E3"/>
          </a:solidFill>
          <a:ln w="12700">
            <a:solidFill>
              <a:srgbClr val="009D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4828" y="1965960"/>
            <a:ext cx="9098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41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ation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644384" y="1965960"/>
            <a:ext cx="416052" cy="365760"/>
          </a:xfrm>
          <a:prstGeom prst="rect">
            <a:avLst/>
          </a:prstGeom>
          <a:solidFill>
            <a:srgbClr val="D9F2F1"/>
          </a:solidFill>
          <a:ln w="12700">
            <a:solidFill>
              <a:srgbClr val="009D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644384" y="1965960"/>
            <a:ext cx="4160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414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!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56048" y="2697480"/>
            <a:ext cx="3438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Context window — filling up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56048" y="3035808"/>
            <a:ext cx="3438144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56048" y="3035808"/>
            <a:ext cx="515722" cy="457200"/>
          </a:xfrm>
          <a:prstGeom prst="rect">
            <a:avLst/>
          </a:prstGeom>
          <a:solidFill>
            <a:srgbClr val="A6C8FF"/>
          </a:solidFill>
          <a:ln/>
        </p:spPr>
      </p:sp>
      <p:sp>
        <p:nvSpPr>
          <p:cNvPr id="32" name="Text 30"/>
          <p:cNvSpPr/>
          <p:nvPr/>
        </p:nvSpPr>
        <p:spPr>
          <a:xfrm>
            <a:off x="4956048" y="3035808"/>
            <a:ext cx="51572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system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471770" y="3035808"/>
            <a:ext cx="1444020" cy="457200"/>
          </a:xfrm>
          <a:prstGeom prst="rect">
            <a:avLst/>
          </a:prstGeom>
          <a:solidFill>
            <a:srgbClr val="78A9FF"/>
          </a:solidFill>
          <a:ln/>
        </p:spPr>
      </p:sp>
      <p:sp>
        <p:nvSpPr>
          <p:cNvPr id="34" name="Text 32"/>
          <p:cNvSpPr/>
          <p:nvPr/>
        </p:nvSpPr>
        <p:spPr>
          <a:xfrm>
            <a:off x="5471770" y="3035808"/>
            <a:ext cx="14440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history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915790" y="3035808"/>
            <a:ext cx="687629" cy="457200"/>
          </a:xfrm>
          <a:prstGeom prst="rect">
            <a:avLst/>
          </a:prstGeom>
          <a:solidFill>
            <a:srgbClr val="4589FF"/>
          </a:solidFill>
          <a:ln/>
        </p:spPr>
      </p:sp>
      <p:sp>
        <p:nvSpPr>
          <p:cNvPr id="36" name="Text 34"/>
          <p:cNvSpPr/>
          <p:nvPr/>
        </p:nvSpPr>
        <p:spPr>
          <a:xfrm>
            <a:off x="6915790" y="3035808"/>
            <a:ext cx="68762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your prompt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7639995" y="3035808"/>
            <a:ext cx="71762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evicted →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956048" y="3657600"/>
            <a:ext cx="34381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= oldest tokens fall out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EE5396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· EMBEDDINGS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Where language becomes geometry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Generative AI · Faculty Development Program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85216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1   ·   07 / 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576" cy="420624"/>
          </a:xfrm>
          <a:prstGeom prst="rect">
            <a:avLst/>
          </a:prstGeom>
          <a:solidFill>
            <a:srgbClr val="EE5396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6420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Meaning as position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1956816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Related words land near each other — distance is similarity.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36576" cy="420624"/>
          </a:xfrm>
          <a:prstGeom prst="rect">
            <a:avLst/>
          </a:prstGeom>
          <a:solidFill>
            <a:srgbClr val="EE5396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43230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Directions carry meaning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" y="2724912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king − man + woman ≈ queen: relationships are consistent vectors.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27832"/>
            <a:ext cx="36576" cy="420624"/>
          </a:xfrm>
          <a:prstGeom prst="rect">
            <a:avLst/>
          </a:prstGeom>
          <a:solidFill>
            <a:srgbClr val="EE5396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20040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 shifts the vector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" y="349300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“Bank” by a river vs. a loan gets different embeddings.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6576" cy="420624"/>
          </a:xfrm>
          <a:prstGeom prst="rect">
            <a:avLst/>
          </a:prstGeom>
          <a:solidFill>
            <a:srgbClr val="EE5396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968496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Powers search &amp; RAG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" y="4261104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Retrieve by meaning, not keywords — even with no shared words.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3840480" cy="310896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55818" y="2523744"/>
            <a:ext cx="118872" cy="118872"/>
          </a:xfrm>
          <a:prstGeom prst="ellipse">
            <a:avLst/>
          </a:prstGeom>
          <a:solidFill>
            <a:srgbClr val="4589FF"/>
          </a:solidFill>
          <a:ln/>
        </p:spPr>
      </p:sp>
      <p:sp>
        <p:nvSpPr>
          <p:cNvPr id="21" name="Shape 19"/>
          <p:cNvSpPr/>
          <p:nvPr/>
        </p:nvSpPr>
        <p:spPr>
          <a:xfrm>
            <a:off x="6133795" y="2359152"/>
            <a:ext cx="118872" cy="118872"/>
          </a:xfrm>
          <a:prstGeom prst="ellipse">
            <a:avLst/>
          </a:prstGeom>
          <a:solidFill>
            <a:srgbClr val="4589FF"/>
          </a:solidFill>
          <a:ln/>
        </p:spPr>
      </p:sp>
      <p:sp>
        <p:nvSpPr>
          <p:cNvPr id="22" name="Shape 20"/>
          <p:cNvSpPr/>
          <p:nvPr/>
        </p:nvSpPr>
        <p:spPr>
          <a:xfrm>
            <a:off x="5647334" y="2852928"/>
            <a:ext cx="118872" cy="118872"/>
          </a:xfrm>
          <a:prstGeom prst="ellipse">
            <a:avLst/>
          </a:prstGeom>
          <a:solidFill>
            <a:srgbClr val="4589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272784" y="2743200"/>
            <a:ext cx="118872" cy="118872"/>
          </a:xfrm>
          <a:prstGeom prst="ellipse">
            <a:avLst/>
          </a:prstGeom>
          <a:solidFill>
            <a:srgbClr val="4589FF"/>
          </a:solidFill>
          <a:ln/>
        </p:spPr>
      </p:sp>
      <p:sp>
        <p:nvSpPr>
          <p:cNvPr id="24" name="Text 22"/>
          <p:cNvSpPr/>
          <p:nvPr/>
        </p:nvSpPr>
        <p:spPr>
          <a:xfrm>
            <a:off x="5270602" y="219456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589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academic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64301" y="3621024"/>
            <a:ext cx="118872" cy="118872"/>
          </a:xfrm>
          <a:prstGeom prst="ellipse">
            <a:avLst/>
          </a:prstGeom>
          <a:solidFill>
            <a:srgbClr val="24A148"/>
          </a:solidFill>
          <a:ln/>
        </p:spPr>
      </p:sp>
      <p:sp>
        <p:nvSpPr>
          <p:cNvPr id="26" name="Shape 24"/>
          <p:cNvSpPr/>
          <p:nvPr/>
        </p:nvSpPr>
        <p:spPr>
          <a:xfrm>
            <a:off x="6481267" y="3785616"/>
            <a:ext cx="118872" cy="118872"/>
          </a:xfrm>
          <a:prstGeom prst="ellipse">
            <a:avLst/>
          </a:prstGeom>
          <a:solidFill>
            <a:srgbClr val="24A148"/>
          </a:solidFill>
          <a:ln/>
        </p:spPr>
      </p:sp>
      <p:sp>
        <p:nvSpPr>
          <p:cNvPr id="27" name="Shape 25"/>
          <p:cNvSpPr/>
          <p:nvPr/>
        </p:nvSpPr>
        <p:spPr>
          <a:xfrm>
            <a:off x="5786323" y="3840480"/>
            <a:ext cx="118872" cy="118872"/>
          </a:xfrm>
          <a:prstGeom prst="ellipse">
            <a:avLst/>
          </a:prstGeom>
          <a:solidFill>
            <a:srgbClr val="24A148"/>
          </a:solidFill>
          <a:ln/>
        </p:spPr>
      </p:sp>
      <p:sp>
        <p:nvSpPr>
          <p:cNvPr id="28" name="Shape 26"/>
          <p:cNvSpPr/>
          <p:nvPr/>
        </p:nvSpPr>
        <p:spPr>
          <a:xfrm>
            <a:off x="6342278" y="3456432"/>
            <a:ext cx="118872" cy="118872"/>
          </a:xfrm>
          <a:prstGeom prst="ellipse">
            <a:avLst/>
          </a:prstGeom>
          <a:solidFill>
            <a:srgbClr val="24A148"/>
          </a:solidFill>
          <a:ln/>
        </p:spPr>
      </p:sp>
      <p:sp>
        <p:nvSpPr>
          <p:cNvPr id="29" name="Text 27"/>
          <p:cNvSpPr/>
          <p:nvPr/>
        </p:nvSpPr>
        <p:spPr>
          <a:xfrm>
            <a:off x="5479085" y="3291840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4A1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everyday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7454189" y="2962656"/>
            <a:ext cx="118872" cy="118872"/>
          </a:xfrm>
          <a:prstGeom prst="ellipse">
            <a:avLst/>
          </a:prstGeom>
          <a:solidFill>
            <a:srgbClr val="F1C21B"/>
          </a:solidFill>
          <a:ln/>
        </p:spPr>
      </p:sp>
      <p:sp>
        <p:nvSpPr>
          <p:cNvPr id="31" name="Shape 29"/>
          <p:cNvSpPr/>
          <p:nvPr/>
        </p:nvSpPr>
        <p:spPr>
          <a:xfrm>
            <a:off x="7732166" y="2743200"/>
            <a:ext cx="118872" cy="118872"/>
          </a:xfrm>
          <a:prstGeom prst="ellipse">
            <a:avLst/>
          </a:prstGeom>
          <a:solidFill>
            <a:srgbClr val="F1C21B"/>
          </a:solidFill>
          <a:ln/>
        </p:spPr>
      </p:sp>
      <p:sp>
        <p:nvSpPr>
          <p:cNvPr id="32" name="Shape 30"/>
          <p:cNvSpPr/>
          <p:nvPr/>
        </p:nvSpPr>
        <p:spPr>
          <a:xfrm>
            <a:off x="7245706" y="3182112"/>
            <a:ext cx="118872" cy="118872"/>
          </a:xfrm>
          <a:prstGeom prst="ellipse">
            <a:avLst/>
          </a:prstGeom>
          <a:solidFill>
            <a:srgbClr val="F1C21B"/>
          </a:solidFill>
          <a:ln/>
        </p:spPr>
      </p:sp>
      <p:sp>
        <p:nvSpPr>
          <p:cNvPr id="33" name="Shape 31"/>
          <p:cNvSpPr/>
          <p:nvPr/>
        </p:nvSpPr>
        <p:spPr>
          <a:xfrm>
            <a:off x="7662672" y="3291840"/>
            <a:ext cx="118872" cy="118872"/>
          </a:xfrm>
          <a:prstGeom prst="ellipse">
            <a:avLst/>
          </a:prstGeom>
          <a:solidFill>
            <a:srgbClr val="F1C21B"/>
          </a:solidFill>
          <a:ln/>
        </p:spPr>
      </p:sp>
      <p:sp>
        <p:nvSpPr>
          <p:cNvPr id="34" name="Text 32"/>
          <p:cNvSpPr/>
          <p:nvPr/>
        </p:nvSpPr>
        <p:spPr>
          <a:xfrm>
            <a:off x="6868973" y="2633472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1C21B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finance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24A148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· HOW LARGE LANGUAGE MODELS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one token, repeat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Generative AI · Faculty Development Program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85216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1   ·   08 / 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576" cy="420624"/>
          </a:xfrm>
          <a:prstGeom prst="rect">
            <a:avLst/>
          </a:prstGeom>
          <a:solidFill>
            <a:srgbClr val="24A148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6420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Autoregression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1956816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Predict the next token, append it, feed it back — hundreds of times.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36576" cy="420624"/>
          </a:xfrm>
          <a:prstGeom prst="rect">
            <a:avLst/>
          </a:prstGeom>
          <a:solidFill>
            <a:srgbClr val="24A148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43230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Temperature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" y="2724912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 = focused &amp; repeatable; high = diverse, creative, riskier.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27832"/>
            <a:ext cx="36576" cy="420624"/>
          </a:xfrm>
          <a:prstGeom prst="rect">
            <a:avLst/>
          </a:prstGeom>
          <a:solidFill>
            <a:srgbClr val="24A148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20040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prompt, new answer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" y="349300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Generation samples a distribution; at T=0 it is deterministic.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6576" cy="420624"/>
          </a:xfrm>
          <a:prstGeom prst="rect">
            <a:avLst/>
          </a:prstGeom>
          <a:solidFill>
            <a:srgbClr val="24A148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968496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Hallucination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" y="4261104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 optimises for likely-looking text, not truth — always verify.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3840480" cy="310896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56048" y="1645920"/>
            <a:ext cx="3438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“…powerhouse of the ___”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56048" y="210312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cell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715000" y="2103120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715000" y="2103120"/>
            <a:ext cx="1730045" cy="384048"/>
          </a:xfrm>
          <a:prstGeom prst="rect">
            <a:avLst/>
          </a:prstGeom>
          <a:solidFill>
            <a:srgbClr val="24A148"/>
          </a:solidFill>
          <a:ln/>
        </p:spPr>
      </p:sp>
      <p:sp>
        <p:nvSpPr>
          <p:cNvPr id="24" name="Text 22"/>
          <p:cNvSpPr/>
          <p:nvPr/>
        </p:nvSpPr>
        <p:spPr>
          <a:xfrm>
            <a:off x="7845552" y="210312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86%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956048" y="265176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organ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715000" y="2651760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15000" y="2651760"/>
            <a:ext cx="120701" cy="384048"/>
          </a:xfrm>
          <a:prstGeom prst="rect">
            <a:avLst/>
          </a:prstGeom>
          <a:solidFill>
            <a:srgbClr val="24A148"/>
          </a:solidFill>
          <a:ln/>
        </p:spPr>
      </p:sp>
      <p:sp>
        <p:nvSpPr>
          <p:cNvPr id="28" name="Text 26"/>
          <p:cNvSpPr/>
          <p:nvPr/>
        </p:nvSpPr>
        <p:spPr>
          <a:xfrm>
            <a:off x="7845552" y="26517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6%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956048" y="320040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body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715000" y="3200400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5000" y="3200400"/>
            <a:ext cx="80467" cy="384048"/>
          </a:xfrm>
          <a:prstGeom prst="rect">
            <a:avLst/>
          </a:prstGeom>
          <a:solidFill>
            <a:srgbClr val="24A148"/>
          </a:solidFill>
          <a:ln/>
        </p:spPr>
      </p:sp>
      <p:sp>
        <p:nvSpPr>
          <p:cNvPr id="32" name="Text 30"/>
          <p:cNvSpPr/>
          <p:nvPr/>
        </p:nvSpPr>
        <p:spPr>
          <a:xfrm>
            <a:off x="7845552" y="32004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4%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956048" y="3749040"/>
            <a:ext cx="713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616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715000" y="3749040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715000" y="3749040"/>
            <a:ext cx="40234" cy="384048"/>
          </a:xfrm>
          <a:prstGeom prst="rect">
            <a:avLst/>
          </a:prstGeom>
          <a:solidFill>
            <a:srgbClr val="24A148"/>
          </a:solidFill>
          <a:ln/>
        </p:spPr>
      </p:sp>
      <p:sp>
        <p:nvSpPr>
          <p:cNvPr id="36" name="Text 34"/>
          <p:cNvSpPr/>
          <p:nvPr/>
        </p:nvSpPr>
        <p:spPr>
          <a:xfrm>
            <a:off x="7845552" y="37490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2%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FF832B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· FOUNDATION MODELS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There is no single “best”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Generative AI · Faculty Development Program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85216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1   ·   09 / 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576" cy="420624"/>
          </a:xfrm>
          <a:prstGeom prst="rect">
            <a:avLst/>
          </a:prstGeom>
          <a:solidFill>
            <a:srgbClr val="FF832B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6420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Match task to constraints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1956816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sensitivity, budget, context length, latency, control.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36576" cy="420624"/>
          </a:xfrm>
          <a:prstGeom prst="rect">
            <a:avLst/>
          </a:prstGeom>
          <a:solidFill>
            <a:srgbClr val="FF832B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43230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weights vs. closed API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" y="2724912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Self-host for privacy, or take managed convenience.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27832"/>
            <a:ext cx="36576" cy="420624"/>
          </a:xfrm>
          <a:prstGeom prst="rect">
            <a:avLst/>
          </a:prstGeom>
          <a:solidFill>
            <a:srgbClr val="FF832B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20040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Benchmarks rarely decide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" y="349300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real constraint like confidentiality usually wins.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6576" cy="420624"/>
          </a:xfrm>
          <a:prstGeom prst="rect">
            <a:avLst/>
          </a:prstGeom>
          <a:solidFill>
            <a:srgbClr val="FF832B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968496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Choose a point, not a winner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" y="4261104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Different answers rightly point to different models.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3840480" cy="3108960"/>
          </a:xfrm>
          <a:prstGeom prst="rect">
            <a:avLst/>
          </a:prstGeom>
          <a:solidFill>
            <a:srgbClr val="262626"/>
          </a:solidFill>
          <a:ln w="12700">
            <a:solidFill>
              <a:srgbClr val="39393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16367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Open weights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675120" y="16367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Closed API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5029200" y="1874520"/>
            <a:ext cx="3291840" cy="0"/>
          </a:xfrm>
          <a:prstGeom prst="line">
            <a:avLst/>
          </a:prstGeom>
          <a:noFill/>
          <a:ln w="25400">
            <a:solidFill>
              <a:srgbClr val="39393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1801368"/>
            <a:ext cx="146304" cy="146304"/>
          </a:xfrm>
          <a:prstGeom prst="ellipse">
            <a:avLst/>
          </a:prstGeom>
          <a:solidFill>
            <a:srgbClr val="FF832B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21854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Lower cost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675120" y="218541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Higher cost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029200" y="2423160"/>
            <a:ext cx="3291840" cy="0"/>
          </a:xfrm>
          <a:prstGeom prst="line">
            <a:avLst/>
          </a:prstGeom>
          <a:noFill/>
          <a:ln w="25400">
            <a:solidFill>
              <a:srgbClr val="39393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31152" y="2350008"/>
            <a:ext cx="146304" cy="146304"/>
          </a:xfrm>
          <a:prstGeom prst="ellipse">
            <a:avLst/>
          </a:prstGeom>
          <a:solidFill>
            <a:srgbClr val="FF832B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27340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Small context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675120" y="273405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Huge context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029200" y="2971800"/>
            <a:ext cx="3291840" cy="0"/>
          </a:xfrm>
          <a:prstGeom prst="line">
            <a:avLst/>
          </a:prstGeom>
          <a:noFill/>
          <a:ln w="25400">
            <a:solidFill>
              <a:srgbClr val="393939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260336" y="2898648"/>
            <a:ext cx="146304" cy="146304"/>
          </a:xfrm>
          <a:prstGeom prst="ellipse">
            <a:avLst/>
          </a:prstGeom>
          <a:solidFill>
            <a:srgbClr val="FF832B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0" y="32826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Fast / cheap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675120" y="328269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Deep reasoning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029200" y="3520440"/>
            <a:ext cx="3291840" cy="0"/>
          </a:xfrm>
          <a:prstGeom prst="line">
            <a:avLst/>
          </a:prstGeom>
          <a:noFill/>
          <a:ln w="25400">
            <a:solidFill>
              <a:srgbClr val="39393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37376" y="3447288"/>
            <a:ext cx="146304" cy="146304"/>
          </a:xfrm>
          <a:prstGeom prst="ellipse">
            <a:avLst/>
          </a:prstGeom>
          <a:solidFill>
            <a:srgbClr val="FF832B"/>
          </a:solidFill>
          <a:ln w="19050">
            <a:solidFill>
              <a:srgbClr val="16161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38313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Self-hosted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675120" y="38313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Managed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029200" y="4069080"/>
            <a:ext cx="3291840" cy="0"/>
          </a:xfrm>
          <a:prstGeom prst="line">
            <a:avLst/>
          </a:prstGeom>
          <a:noFill/>
          <a:ln w="25400">
            <a:solidFill>
              <a:srgbClr val="39393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766560" y="3995928"/>
            <a:ext cx="146304" cy="146304"/>
          </a:xfrm>
          <a:prstGeom prst="ellipse">
            <a:avLst/>
          </a:prstGeom>
          <a:solidFill>
            <a:srgbClr val="FF832B"/>
          </a:solidFill>
          <a:ln w="19050">
            <a:solidFill>
              <a:srgbClr val="16161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· APPLICATIONS OF GENERATIVE AI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Structure the prompt: C.R.A.F.T.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Generative AI · Faculty Development Program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85216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F6F6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1   ·   10 / 11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48640" y="1691640"/>
            <a:ext cx="36576" cy="420624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" y="1664208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pattern, every domain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68096" y="1956816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Teaching, research, consultancy, industry — same five parts.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59736"/>
            <a:ext cx="36576" cy="420624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432304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drafting to directing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68096" y="2724912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human specifies well and verifies the result.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227832"/>
            <a:ext cx="36576" cy="420624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14" name="Text 12"/>
          <p:cNvSpPr/>
          <p:nvPr/>
        </p:nvSpPr>
        <p:spPr>
          <a:xfrm>
            <a:off x="768096" y="3200400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Assistant, not authority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68096" y="3493008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Treat output as a draft to verify and own.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95928"/>
            <a:ext cx="36576" cy="420624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17" name="Text 15"/>
          <p:cNvSpPr/>
          <p:nvPr/>
        </p:nvSpPr>
        <p:spPr>
          <a:xfrm>
            <a:off x="768096" y="3968496"/>
            <a:ext cx="36210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Verify &amp; disclose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68096" y="4261104"/>
            <a:ext cx="36210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Check facts and privacy; disclose AI use per policy.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54880" y="1463040"/>
            <a:ext cx="3840480" cy="310896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56048" y="1645920"/>
            <a:ext cx="34381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56048" y="1645920"/>
            <a:ext cx="457200" cy="512064"/>
          </a:xfrm>
          <a:prstGeom prst="rect">
            <a:avLst/>
          </a:prstGeom>
          <a:solidFill>
            <a:srgbClr val="4589FF"/>
          </a:solidFill>
          <a:ln/>
        </p:spPr>
      </p:sp>
      <p:sp>
        <p:nvSpPr>
          <p:cNvPr id="22" name="Text 20"/>
          <p:cNvSpPr/>
          <p:nvPr/>
        </p:nvSpPr>
        <p:spPr>
          <a:xfrm>
            <a:off x="4956048" y="1645920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32120" y="16916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532120" y="1911096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who you are, the situation, the audience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956048" y="2231136"/>
            <a:ext cx="34381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56048" y="2231136"/>
            <a:ext cx="457200" cy="512064"/>
          </a:xfrm>
          <a:prstGeom prst="rect">
            <a:avLst/>
          </a:prstGeom>
          <a:solidFill>
            <a:srgbClr val="08BDBA"/>
          </a:solidFill>
          <a:ln/>
        </p:spPr>
      </p:sp>
      <p:sp>
        <p:nvSpPr>
          <p:cNvPr id="27" name="Text 25"/>
          <p:cNvSpPr/>
          <p:nvPr/>
        </p:nvSpPr>
        <p:spPr>
          <a:xfrm>
            <a:off x="4956048" y="2231136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5532120" y="2276856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Role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532120" y="2496312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act as a peer reviewer in…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956048" y="2816352"/>
            <a:ext cx="34381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956048" y="2816352"/>
            <a:ext cx="457200" cy="512064"/>
          </a:xfrm>
          <a:prstGeom prst="rect">
            <a:avLst/>
          </a:prstGeom>
          <a:solidFill>
            <a:srgbClr val="24A148"/>
          </a:solidFill>
          <a:ln/>
        </p:spPr>
      </p:sp>
      <p:sp>
        <p:nvSpPr>
          <p:cNvPr id="32" name="Text 30"/>
          <p:cNvSpPr/>
          <p:nvPr/>
        </p:nvSpPr>
        <p:spPr>
          <a:xfrm>
            <a:off x="4956048" y="2816352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532120" y="2862072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Action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5532120" y="3081528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the precise task and output format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956048" y="3401568"/>
            <a:ext cx="34381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56048" y="3401568"/>
            <a:ext cx="457200" cy="512064"/>
          </a:xfrm>
          <a:prstGeom prst="rect">
            <a:avLst/>
          </a:prstGeom>
          <a:solidFill>
            <a:srgbClr val="FF832B"/>
          </a:solidFill>
          <a:ln/>
        </p:spPr>
      </p:sp>
      <p:sp>
        <p:nvSpPr>
          <p:cNvPr id="37" name="Text 35"/>
          <p:cNvSpPr/>
          <p:nvPr/>
        </p:nvSpPr>
        <p:spPr>
          <a:xfrm>
            <a:off x="4956048" y="3401568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5532120" y="344728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Few-shot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5532120" y="3666744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 example of a good output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956048" y="3986784"/>
            <a:ext cx="3438144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956048" y="3986784"/>
            <a:ext cx="457200" cy="512064"/>
          </a:xfrm>
          <a:prstGeom prst="rect">
            <a:avLst/>
          </a:prstGeom>
          <a:solidFill>
            <a:srgbClr val="EE5396"/>
          </a:solidFill>
          <a:ln/>
        </p:spPr>
      </p:sp>
      <p:sp>
        <p:nvSpPr>
          <p:cNvPr id="42" name="Text 40"/>
          <p:cNvSpPr/>
          <p:nvPr/>
        </p:nvSpPr>
        <p:spPr>
          <a:xfrm>
            <a:off x="4956048" y="3986784"/>
            <a:ext cx="457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5532120" y="403250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5532120" y="4251960"/>
            <a:ext cx="2788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ask it to flag its own uncertainty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6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75488"/>
            <a:ext cx="146304" cy="146304"/>
          </a:xfrm>
          <a:prstGeom prst="rect">
            <a:avLst/>
          </a:prstGeom>
          <a:solidFill>
            <a:srgbClr val="0F62FE"/>
          </a:solidFill>
          <a:ln/>
        </p:spPr>
      </p:sp>
      <p:sp>
        <p:nvSpPr>
          <p:cNvPr id="3" name="Text 1"/>
          <p:cNvSpPr/>
          <p:nvPr/>
        </p:nvSpPr>
        <p:spPr>
          <a:xfrm>
            <a:off x="804672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1 · THE THREAD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a notebook to a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47594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Generative AI · Faculty Development Program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852160" y="47594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D8D8D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Day 1   ·   11 / 11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737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Deep learning won  </a:t>
            </a:r>
            <a:pPr indent="0" marL="0">
              <a:buNone/>
            </a:pPr>
            <a:r>
              <a:rPr lang="en-US" sz="14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data, compute, and architecture converged.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30428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3042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Attention replaced recurrence  </a:t>
            </a:r>
            <a:pPr indent="0" marL="0">
              <a:buNone/>
            </a:pPr>
            <a:r>
              <a:rPr lang="en-US" sz="14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word relates to every word, in parallel.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28712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28712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Tokens &amp; embeddings  </a:t>
            </a:r>
            <a:pPr indent="0" marL="0">
              <a:buNone/>
            </a:pPr>
            <a:r>
              <a:rPr lang="en-US" sz="14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are how language enters the model as numbers and meaning.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343814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438144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LLMs predict the next token  </a:t>
            </a:r>
            <a:pPr indent="0" marL="0">
              <a:buNone/>
            </a:pPr>
            <a:r>
              <a:rPr lang="en-US" sz="14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fluently — which is power and the source of hallucination.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0050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62FE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4005072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F4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Choose and use responsibly  </a:t>
            </a:r>
            <a:pPr indent="0" marL="0">
              <a:buNone/>
            </a:pPr>
            <a:r>
              <a:rPr lang="en-US" sz="1400" dirty="0">
                <a:solidFill>
                  <a:srgbClr val="C6C6C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match the model to constraints; verify, disclose, own the output.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 — From Deep Learning to LLMs</dc:title>
  <dc:subject>PptxGenJS Presentation</dc:subject>
  <dc:creator>Generative AI FDP</dc:creator>
  <cp:lastModifiedBy>Generative AI FDP</cp:lastModifiedBy>
  <cp:revision>1</cp:revision>
  <dcterms:created xsi:type="dcterms:W3CDTF">2026-06-15T03:00:55Z</dcterms:created>
  <dcterms:modified xsi:type="dcterms:W3CDTF">2026-06-15T03:00:55Z</dcterms:modified>
</cp:coreProperties>
</file>